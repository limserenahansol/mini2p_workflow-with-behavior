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25" d="100"/>
          <a:sy n="125" d="100"/>
        </p:scale>
        <p:origin x="-1026" y="-83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nsol lim" userId="4000a7d71c974409" providerId="LiveId" clId="{B842972F-C5B8-4B03-ADB0-F29C919A5E04}"/>
    <pc:docChg chg="modSld">
      <pc:chgData name="hansol lim" userId="4000a7d71c974409" providerId="LiveId" clId="{B842972F-C5B8-4B03-ADB0-F29C919A5E04}" dt="2026-09-12T17:31:41.087" v="2" actId="1076"/>
      <pc:docMkLst>
        <pc:docMk/>
      </pc:docMkLst>
      <pc:sldChg chg="modSp mod">
        <pc:chgData name="hansol lim" userId="4000a7d71c974409" providerId="LiveId" clId="{B842972F-C5B8-4B03-ADB0-F29C919A5E04}" dt="2026-09-12T17:31:03.273" v="1" actId="1036"/>
        <pc:sldMkLst>
          <pc:docMk/>
          <pc:sldMk cId="0" sldId="274"/>
        </pc:sldMkLst>
        <pc:picChg chg="mod">
          <ac:chgData name="hansol lim" userId="4000a7d71c974409" providerId="LiveId" clId="{B842972F-C5B8-4B03-ADB0-F29C919A5E04}" dt="2026-09-12T17:31:03.273" v="1" actId="1036"/>
          <ac:picMkLst>
            <pc:docMk/>
            <pc:sldMk cId="0" sldId="274"/>
            <ac:picMk id="4" creationId="{00000000-0000-0000-0000-000000000000}"/>
          </ac:picMkLst>
        </pc:picChg>
      </pc:sldChg>
      <pc:sldChg chg="modSp mod">
        <pc:chgData name="hansol lim" userId="4000a7d71c974409" providerId="LiveId" clId="{B842972F-C5B8-4B03-ADB0-F29C919A5E04}" dt="2026-09-12T17:31:41.087" v="2" actId="1076"/>
        <pc:sldMkLst>
          <pc:docMk/>
          <pc:sldMk cId="0" sldId="279"/>
        </pc:sldMkLst>
        <pc:picChg chg="mod">
          <ac:chgData name="hansol lim" userId="4000a7d71c974409" providerId="LiveId" clId="{B842972F-C5B8-4B03-ADB0-F29C919A5E04}" dt="2026-09-12T17:31:41.087" v="2" actId="1076"/>
          <ac:picMkLst>
            <pc:docMk/>
            <pc:sldMk cId="0" sldId="279"/>
            <ac:picMk id="4" creationId="{00000000-0000-0000-0000-000000000000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828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1A1A1A"/>
                </a:solidFill>
                <a:latin typeface="Calibri"/>
              </a:rPr>
              <a:t>CEA-Ntsr1 two-plane imaging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51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900" b="0">
                <a:solidFill>
                  <a:srgbClr val="1C6E8C"/>
                </a:solidFill>
                <a:latin typeface="Calibri"/>
              </a:rPr>
              <a:t>Four visualisations, for confirmation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9184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>1  processing        raw movie to what EXTRACT sees, with the quality measured at each stage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>2  cell detection    every footprint against its own local control, so the test can be seen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>3  place coding      how a centre or corner cell is decided, observed value against its own null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>4  across sessions   the same neuron in the pain and open-field sessions, one row per cell</a:t>
            </a:r>
          </a:p>
          <a:p>
            <a:pPr algn="l">
              <a:spcAft>
                <a:spcPts val="200"/>
              </a:spcAft>
            </a:pPr>
            <a:endParaRPr sz="1300" b="0">
              <a:solidFill>
                <a:srgbClr val="666666"/>
              </a:solidFill>
              <a:latin typeface="Calibri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>Each figure opens with the whole field of view, then goes to detail. Methods and statistics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>are written into each figure's own legend, so these slides stay short.</a:t>
            </a:r>
          </a:p>
          <a:p>
            <a:pPr algn="l">
              <a:spcAft>
                <a:spcPts val="200"/>
              </a:spcAft>
            </a:pPr>
            <a:endParaRPr sz="1300" b="0">
              <a:solidFill>
                <a:srgbClr val="666666"/>
              </a:solidFill>
              <a:latin typeface="Calibri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>Pain responsiveness is not here: it needs the manual scoring. Everything else is in place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666666"/>
                </a:solidFill>
                <a:latin typeface="Calibri"/>
              </a:rPr>
              <a:t>for it to drop straight into set 4.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code C:\Users\hsollim\OneDrive\Desktop\cursor\pain_2plane_split   |   figures &lt;session&gt;\output_split\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Calibri"/>
              </a:rPr>
              <a:t>Set 1 - processing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C6E8C"/>
                </a:solidFill>
                <a:latin typeface="Calibri"/>
              </a:rPr>
              <a:t>Does each step actually improve the movie? Measured, not asserted.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25880"/>
            <a:ext cx="11430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Three rows: the whole field at every stage, then the same 140 px crop at every stage, then three measurements.</a:t>
            </a:r>
          </a:p>
          <a:p>
            <a:pPr algn="l">
              <a:spcAft>
                <a:spcPts val="200"/>
              </a:spcAft>
            </a:pPr>
            <a:endParaRPr sz="1350" b="0">
              <a:solidFill>
                <a:srgbClr val="1A1A1A"/>
              </a:solidFill>
              <a:latin typeface="Calibri"/>
            </a:endParaRP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Each measurement judges ONE stage - the one it is supposed to fix - and the grey band marks which: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    frame-to-mean correlation  -&gt;  motion correction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    temporal SNR in cells      -&gt;  denoising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    cell over surround         -&gt;  the spatial band-pass</a:t>
            </a:r>
          </a:p>
          <a:p>
            <a:pPr algn="l">
              <a:spcAft>
                <a:spcPts val="200"/>
              </a:spcAft>
            </a:pPr>
            <a:endParaRPr sz="1350" b="0">
              <a:solidFill>
                <a:srgbClr val="1A1A1A"/>
              </a:solidFill>
              <a:latin typeface="Calibri"/>
            </a:endParaRP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Plotting one metric across all stages and calling the rise an improvement is easy and wrong: a spatial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blur raises frame-to-frame correlation for free. That is why it is deliberately not shown.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4805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E7D5B"/>
                </a:solidFill>
                <a:latin typeface="Calibri"/>
              </a:rPr>
              <a:t>Headline: before motion correction the cell contrast is NEGATIVE (-0.30 SD) - motion smeared the somata until they were dimmer than their own surround. Correction flips it to +2.95 SD.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fig1_processing.py  -&gt;  &lt;plane&gt;\curated\fig1_processing.png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1 - pain plane A  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Follow one soma across the crops: smeared at stages 1-2, crisp from stage 3 on.</a:t>
            </a:r>
          </a:p>
        </p:txBody>
      </p:sp>
      <p:pic>
        <p:nvPicPr>
          <p:cNvPr id="4" name="Picture 3" descr="fig1_processing_b1o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44458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&lt;pain&gt;\output_split\plane_A\curated\fig1_processing.png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1 - pain plane A  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1_processing_b2o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44509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&lt;pain&gt;\output_split\plane_A\curated\fig1_processing.png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1 - pain plane B  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Plane B was already steadier: frame-to-mean correlation 0.74 before correction against 0.66 in plane A.</a:t>
            </a:r>
          </a:p>
        </p:txBody>
      </p:sp>
      <p:pic>
        <p:nvPicPr>
          <p:cNvPr id="4" name="Picture 3" descr="fig1_processing_b1o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44458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&lt;pain&gt;\output_split\plane_B\curated\fig1_processing.png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1 - pain plane B  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1_processing_b2o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44509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&lt;pain&gt;\output_split\plane_B\curated\fig1_processing.png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1 - open field plane A  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Same pipeline, the cleaner recording: noise std 14.2 against 20.8 in the pain session.</a:t>
            </a:r>
          </a:p>
        </p:txBody>
      </p:sp>
      <p:pic>
        <p:nvPicPr>
          <p:cNvPr id="4" name="Picture 3" descr="fig1_processing_b1o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44458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&lt;open field&gt;\output_split\plane_A\curated\fig1_processing.png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1 - open field plane A  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1_processing_b2o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44509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&lt;open field&gt;\output_split\plane_A\curated\fig1_processing.png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Calibri"/>
              </a:rPr>
              <a:t>Set 2 - cell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C6E8C"/>
                </a:solidFill>
                <a:latin typeface="Calibri"/>
              </a:rPr>
              <a:t>Show the comparison the statistics make, instead of asking anyone to trust a p-value.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25880"/>
            <a:ext cx="11430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Each cell is put next to ITS OWN control: the same footprint shape, moved to the nearest place in the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same movie with no detected cell (28-52 px away). Same tissue, same depth, same shot noise, same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extraction - only the soma is missing. If the cells look different from their controls, the detection is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doing something real and you can see it.</a:t>
            </a:r>
          </a:p>
          <a:p>
            <a:pPr algn="l">
              <a:spcAft>
                <a:spcPts val="200"/>
              </a:spcAft>
            </a:pPr>
            <a:endParaRPr sz="1350" b="0">
              <a:solidFill>
                <a:srgbClr val="1A1A1A"/>
              </a:solidFill>
              <a:latin typeface="Calibri"/>
            </a:endParaRP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Nearest rather than random on purpose: a control in distant tissue has different brightness and noise,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which would make the comparison easy in the wrong 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86200"/>
            <a:ext cx="114300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E7D5B"/>
                </a:solidFill>
                <a:latin typeface="Calibri"/>
              </a:rPr>
              <a:t>Result, pain plane A:   lag-1 autocorrelation higher in the cell than in its own control for 11 of 11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E7D5B"/>
                </a:solidFill>
                <a:latin typeface="Calibri"/>
              </a:rPr>
              <a:t>                        robust SNR higher for 8 of 11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2E7D5B"/>
                </a:solidFill>
                <a:latin typeface="Calibri"/>
              </a:rPr>
              <a:t>                        skew higher for only 6 of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>
                <a:solidFill>
                  <a:srgbClr val="666666"/>
                </a:solidFill>
                <a:latin typeface="Calibri"/>
              </a:rPr>
              <a:t>So in this plane one of the two metrics is doing the work. That is stated rather than smoothed over - it is also why the verdict combines them against a measured null instead of relying on either alone.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fig2_detection.py  -&gt;  &lt;plane&gt;\curated\fig2_detection.png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2 - pain plane A  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Panel C is the argument: 11 of 11 blue lines rise. Amber (silent) rise a little, the red SUSPECT line barely at all.</a:t>
            </a:r>
          </a:p>
        </p:txBody>
      </p:sp>
      <p:pic>
        <p:nvPicPr>
          <p:cNvPr id="4" name="Picture 3" descr="fig2_detection_b1o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474" y="1051560"/>
            <a:ext cx="9258571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&lt;pain&gt;\output_split\plane_A\curated\fig2_detection.png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2 - pain plane A  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2_detection_b2o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5142" y="1051560"/>
            <a:ext cx="9251235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&lt;pain&gt;\output_split\plane_A\curated\fig2_detection.png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2 - pain plane B 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Cell 11a and 11b are the split pair - both compared against their own controls.</a:t>
            </a:r>
          </a:p>
        </p:txBody>
      </p:sp>
      <p:pic>
        <p:nvPicPr>
          <p:cNvPr id="4" name="Picture 3" descr="fig2_detection_b1o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348" y="1051560"/>
            <a:ext cx="10584822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&lt;pain&gt;\output_split\plane_B\curated\fig2_detection.png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2 - pain plane B 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2_detection_b2o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92" y="1051560"/>
            <a:ext cx="10004335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&lt;pain&gt;\output_split\plane_B\curated\fig2_detection.png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2 - pain plane B 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2_detection_b3o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42" y="1051560"/>
            <a:ext cx="10575234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&lt;pain&gt;\output_split\plane_B\curated\fig2_detection.png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2 - open field plane B 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N3, N4 and N5 are the somata added by hand. All three came out silent: real footprints, no signal in 326 s.</a:t>
            </a:r>
          </a:p>
        </p:txBody>
      </p:sp>
      <p:pic>
        <p:nvPicPr>
          <p:cNvPr id="4" name="Picture 3" descr="fig2_detection_b1o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348" y="1051560"/>
            <a:ext cx="10584822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&lt;open field&gt;\output_split\plane_B\curated\fig2_detection.png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2 - open field plane B 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2_detection_b2o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92" y="1051560"/>
            <a:ext cx="10004335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&lt;open field&gt;\output_split\plane_B\curated\fig2_detection.png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2 - open field plane B 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2_detection_b3o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42" y="1051560"/>
            <a:ext cx="10575234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&lt;open field&gt;\output_split\plane_B\curated\fig2_detection.png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Calibri"/>
              </a:rPr>
              <a:t>Set 3 - centre versus corner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C6E8C"/>
                </a:solidFill>
                <a:latin typeface="Calibri"/>
              </a:rPr>
              <a:t>The previous figure showed the answer. This one shows the evidence.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25880"/>
            <a:ext cx="114300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Top row, before any neuron is mentioned: where the mouse went, how long it spent there, and the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3x3 zones drawn on the real floor.</a:t>
            </a:r>
          </a:p>
          <a:p>
            <a:pPr algn="l">
              <a:spcAft>
                <a:spcPts val="200"/>
              </a:spcAft>
            </a:pPr>
            <a:endParaRPr sz="1350" b="0">
              <a:solidFill>
                <a:srgbClr val="1A1A1A"/>
              </a:solidFill>
              <a:latin typeface="Calibri"/>
            </a:endParaRP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Then one row per cell. Left: that cell's activity per place, divided by how long the mouse spent in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each bin. Right: the observed centre-minus-corner contrast (red) on top of the 2000 circular shifts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it was compared against (grey). A cell is called when the red line falls outside the grey.</a:t>
            </a:r>
          </a:p>
          <a:p>
            <a:pPr algn="l">
              <a:spcAft>
                <a:spcPts val="200"/>
              </a:spcAft>
            </a:pPr>
            <a:endParaRPr sz="1350" b="0">
              <a:solidFill>
                <a:srgbClr val="1A1A1A"/>
              </a:solidFill>
              <a:latin typeface="Calibri"/>
            </a:endParaRP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The null is a circular shift of the trace against the behaviour, not a t-test across frames. One calcium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transient spans several frames, so a t-test treats each frame as new information and calls noise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significant. Rolling the trace keeps its autocorrelation and the animal's occupancy exactly, and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destroys only the pairing.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E7D5B"/>
                </a:solidFill>
                <a:latin typeface="Calibri"/>
              </a:rPr>
              <a:t>Result: 2 of 9 prefer the centre (A#3 contrast +0.520, A#12 +0.900, both q = 0.0022). None prefer the corners, and 0 of 9 are speed-correlated - so the zone effects are not speed in disguise.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fig3_place.py  -&gt;  &lt;open field&gt;\output_split\place\fig3_place.png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3 - the decision, drawn   (1 of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A#3 and A#12 are the only red lines outside their grey nulls. Everyone else sits inside.</a:t>
            </a:r>
          </a:p>
        </p:txBody>
      </p:sp>
      <p:pic>
        <p:nvPicPr>
          <p:cNvPr id="4" name="Picture 3" descr="fig3_place_b1o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60" y="998438"/>
            <a:ext cx="11430000" cy="48461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&lt;open field&gt;\output_split\place\fig3_place.png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3 - the decision, drawn   (2 of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3_place_b2o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51226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&lt;open field&gt;\output_split\place\fig3_place.png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3 - the decision, drawn   (3 of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3_place_b3o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51226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&lt;open field&gt;\output_split\place\fig3_place.png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3 - the decision, drawn   (4 of 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3_place_b4o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48518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&lt;open field&gt;\output_split\place\fig3_place.png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Calibri"/>
              </a:rPr>
              <a:t>Set 4 - the same neuron in both sessions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1C6E8C"/>
                </a:solidFill>
                <a:latin typeface="Calibri"/>
              </a:rPr>
              <a:t>Row N is one neuron. EXTRACT's own numbering is not comparable across sessions.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25880"/>
            <a:ext cx="1143000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Same-numbered cells across the two sessions sat a median of 197 px (plane A) and 145 px (plane B)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apart - 18 to 25 cell radii. So a unified id is assigned per plane: matched pairs first, best footprint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agreement first, then cells seen only in the pain session, then only in the open field. Row A1 is then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one neuron in both columns by construction.</a:t>
            </a:r>
          </a:p>
          <a:p>
            <a:pPr algn="l">
              <a:spcAft>
                <a:spcPts val="200"/>
              </a:spcAft>
            </a:pPr>
            <a:endParaRPr sz="1350" b="0">
              <a:solidFill>
                <a:srgbClr val="1A1A1A"/>
              </a:solidFill>
              <a:latin typeface="Calibri"/>
            </a:endParaRP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A pair must clear two gates. Position: within one cell radius (8 px) after registering the two sessions'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mean images. Shape: footprint correlation at least 0.5 after alignment - position alone pairs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neighbours in a dense plane.</a:t>
            </a:r>
          </a:p>
          <a:p>
            <a:pPr algn="l">
              <a:spcAft>
                <a:spcPts val="200"/>
              </a:spcAft>
            </a:pPr>
            <a:endParaRPr sz="1350" b="0">
              <a:solidFill>
                <a:srgbClr val="1A1A1A"/>
              </a:solidFill>
              <a:latin typeface="Calibri"/>
            </a:endParaRP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Registration is a direct correlation search over shifts. Each depth matches ITSELF across sessions at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r about 0.87, against 0.33-0.44 for the wrong depth, so the same optical planes really were imaged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29 minutes apart.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1663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E7D5B"/>
                </a:solidFill>
                <a:latin typeface="Calibri"/>
              </a:rPr>
              <a:t>Result: 13 of 21 position pairs also agree in shape. Plane A 5 of 18 unified cells, plane B 8 of 24. Both centre-preferring cells could be followed into the pain session.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fig4_matched.py  -&gt;  &lt;pain&gt;\output_split\match\fig4_matched_*.png , fig4_unified_cells.csv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4 - z-score   (1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Every row on the same scale, so trace heights mean the same thing between cells. Plane A rows first, then plane B.</a:t>
            </a:r>
          </a:p>
        </p:txBody>
      </p:sp>
      <p:pic>
        <p:nvPicPr>
          <p:cNvPr id="4" name="Picture 3" descr="fig4_matched_z_b1o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404" y="899160"/>
            <a:ext cx="10734710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&lt;pain&gt;\output_split\match\fig4_matched_z.png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4 - z-score   (2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4_matched_z_b2o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941" y="1051560"/>
            <a:ext cx="10159637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&lt;pain&gt;\output_split\match\fig4_matched_z.png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4 - z-score   (3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4_matched_z_b3o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941" y="1051560"/>
            <a:ext cx="10159637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&lt;pain&gt;\output_split\match\fig4_matched_z.png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4 - z-score   (4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4_matched_z_b4o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941" y="1051560"/>
            <a:ext cx="10159637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&lt;pain&gt;\output_split\match\fig4_matched_z.png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100" b="1">
                <a:solidFill>
                  <a:srgbClr val="1A1A1A"/>
                </a:solidFill>
                <a:latin typeface="Calibri"/>
              </a:rPr>
              <a:t>Set 4 - z-score   (5 of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00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C6E8C"/>
                </a:solidFill>
                <a:latin typeface="Calibri"/>
              </a:rPr>
              <a:t>continued</a:t>
            </a:r>
          </a:p>
        </p:txBody>
      </p:sp>
      <p:pic>
        <p:nvPicPr>
          <p:cNvPr id="4" name="Picture 3" descr="fig4_matched_z_b5o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729" y="1051560"/>
            <a:ext cx="10724061" cy="5212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&lt;pain&gt;\output_split\match\fig4_matched_z.png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1A1A1A"/>
                </a:solidFill>
                <a:latin typeface="Calibri"/>
              </a:rPr>
              <a:t>Set 4 - the same rows in dF/F and in raw fluorescence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71323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1C6E8C"/>
                </a:solidFill>
                <a:latin typeface="Calibri"/>
              </a:rPr>
              <a:t>Identical row order; only the y quantity changes. Too tall to read on a slide, so they are files.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71600"/>
            <a:ext cx="114300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fig4_matched_z.png      the previous slides. Detrended dF/F over its robust SD, so amplitudes are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                        comparable BETWEEN cells. Use this to compare one cell against another.</a:t>
            </a:r>
          </a:p>
          <a:p>
            <a:pPr algn="l">
              <a:spcAft>
                <a:spcPts val="200"/>
              </a:spcAft>
            </a:pPr>
            <a:endParaRPr sz="1300" b="0">
              <a:solidFill>
                <a:srgbClr val="1A1A1A"/>
              </a:solidFill>
              <a:latin typeface="Calibri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fig4_matched_dff.png    (F - F0) / F0, F0 = the 20th percentile of that cell's own raw trace.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                        Comparable within a cell over time, not between cells with different baselines.</a:t>
            </a:r>
          </a:p>
          <a:p>
            <a:pPr algn="l">
              <a:spcAft>
                <a:spcPts val="200"/>
              </a:spcAft>
            </a:pPr>
            <a:endParaRPr sz="1300" b="0">
              <a:solidFill>
                <a:srgbClr val="1A1A1A"/>
              </a:solidFill>
              <a:latin typeface="Calibri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fig4_matched_rawF.png   raw movie units, no baseline removed. The only one that shows absolute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                        brightness, bleaching and slow drift - dF/F hides all three by construction.</a:t>
            </a:r>
          </a:p>
          <a:p>
            <a:pPr algn="l">
              <a:spcAft>
                <a:spcPts val="200"/>
              </a:spcAft>
            </a:pPr>
            <a:endParaRPr sz="1300" b="0">
              <a:solidFill>
                <a:srgbClr val="1A1A1A"/>
              </a:solidFill>
              <a:latin typeface="Calibri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fig4_unified_cells.csv  the row table: unified id, plane, pain cell, open-field cell, footprint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                        agreement, both verdicts, and the open-field place preference. This is the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                        file the pain-responsiveness columns get added to after the scoring.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&lt;pain&gt;\output_split\match\ 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201168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>
                <a:solidFill>
                  <a:srgbClr val="1A1A1A"/>
                </a:solidFill>
                <a:latin typeface="Calibri"/>
              </a:rPr>
              <a:t>What is ready, and what is waiting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0584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Ready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  55 curated cells across four planes, verified against the curation decisions by verify_curation.py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  every trace in three forms - raw F, dF/F, z - on one time base shared with the behaviour cameras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  13 neurons followed across both sessions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  2 centre-preferring cells, both of them followable into the pain session</a:t>
            </a:r>
          </a:p>
          <a:p>
            <a:pPr algn="l">
              <a:spcAft>
                <a:spcPts val="200"/>
              </a:spcAft>
            </a:pPr>
            <a:endParaRPr sz="1350" b="0">
              <a:solidFill>
                <a:srgbClr val="1A1A1A"/>
              </a:solidFill>
              <a:latin typeface="Calibri"/>
            </a:endParaRP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Waiting on the manual scoring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  pin-prick / heat / behaviour-responsive classification, event-locked to the scored times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  lock_events(t_s, z, stimulus_times) in pain_cell_traces.py takes the times and returns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  (cells x events x lag) windows; stimulus times must be on the same imaging clock as t_s</a:t>
            </a:r>
          </a:p>
          <a:p>
            <a:pPr algn="l">
              <a:spcAft>
                <a:spcPts val="200"/>
              </a:spcAft>
            </a:pPr>
            <a:endParaRPr sz="1350" b="0">
              <a:solidFill>
                <a:srgbClr val="1A1A1A"/>
              </a:solidFill>
              <a:latin typeface="Calibri"/>
            </a:endParaRP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Then the question becomes one row of set 4: was the neuron that preferred the exposed centre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also pin-prick responsive? For plane A that row is A1 - open field #12, pain #3, footprint</a:t>
            </a:r>
          </a:p>
          <a:p>
            <a:pPr algn="l">
              <a:spcAft>
                <a:spcPts val="200"/>
              </a:spcAft>
            </a:pPr>
            <a:r>
              <a:rPr sz="1350" b="0">
                <a:solidFill>
                  <a:srgbClr val="1A1A1A"/>
                </a:solidFill>
                <a:latin typeface="Calibri"/>
              </a:rPr>
              <a:t>agreement 0.95, and active in both sessions.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38251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666666"/>
                </a:solidFill>
                <a:latin typeface="Consolas"/>
              </a:rPr>
              <a:t>nothing in &lt;session&gt;\output\ is touched - that is the other agent's max-projection pipeline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2293</Words>
  <Application>Microsoft Office PowerPoint</Application>
  <PresentationFormat>Widescreen</PresentationFormat>
  <Paragraphs>171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hansol lim</cp:lastModifiedBy>
  <cp:revision>1</cp:revision>
  <dcterms:created xsi:type="dcterms:W3CDTF">2013-01-27T09:14:16Z</dcterms:created>
  <dcterms:modified xsi:type="dcterms:W3CDTF">2026-09-12T17:31:51Z</dcterms:modified>
  <cp:category/>
</cp:coreProperties>
</file>